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defRPr sz="3800" b="1">
                <a:solidFill>
                  <a:srgbClr val="003366"/>
                </a:solidFill>
              </a:defRPr>
            </a:pPr>
            <a:r>
              <a:t>Modelo DLBP para Optimización del</a:t>
            </a:r>
          </a:p>
          <a:p>
            <a:pPr algn="ctr">
              <a:spcBef>
                <a:spcPts val="600"/>
              </a:spcBef>
              <a:defRPr sz="3800" b="1">
                <a:solidFill>
                  <a:srgbClr val="003366"/>
                </a:solidFill>
              </a:defRPr>
            </a:pPr>
            <a:r>
              <a:t>Balanceo de Carcasa en la Industria Avícola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i="1">
                <a:solidFill>
                  <a:srgbClr val="4682B4"/>
                </a:solidFill>
              </a:defRPr>
            </a:pPr>
            <a:r>
              <a:t>Enfoque con Técnicas Metaheurísticas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8229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400"/>
              </a:spcAft>
              <a:defRPr sz="1700">
                <a:solidFill>
                  <a:srgbClr val="404040"/>
                </a:solidFill>
              </a:defRPr>
            </a:pPr>
            <a:r>
              <a:t>Daniel Castañeda</a:t>
            </a:r>
          </a:p>
          <a:p>
            <a:pPr algn="ctr">
              <a:spcAft>
                <a:spcPts val="400"/>
              </a:spcAft>
              <a:defRPr sz="1700">
                <a:solidFill>
                  <a:srgbClr val="404040"/>
                </a:solidFill>
              </a:defRPr>
            </a:pPr>
            <a:r>
              <a:t>Maestría en Investigación de Operaciones y Estadística</a:t>
            </a:r>
          </a:p>
          <a:p>
            <a:pPr algn="ctr">
              <a:spcAft>
                <a:spcPts val="400"/>
              </a:spcAft>
              <a:defRPr sz="1700">
                <a:solidFill>
                  <a:srgbClr val="404040"/>
                </a:solidFill>
              </a:defRPr>
            </a:pPr>
            <a:r>
              <a:t>Universidad Tecnológica de Pereira</a:t>
            </a:r>
          </a:p>
          <a:p>
            <a:pPr algn="ctr">
              <a:spcAft>
                <a:spcPts val="400"/>
              </a:spcAft>
              <a:defRPr sz="1700">
                <a:solidFill>
                  <a:srgbClr val="404040"/>
                </a:solidFill>
              </a:defRPr>
            </a:pPr>
            <a:r>
              <a:t>Seminario de Investigación I - 2025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003366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E1E1E"/>
                </a:solidFill>
              </a:defRPr>
            </a:pPr>
            <a:r>
              <a:t>1. Planteamiento del Problema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2200">
                <a:solidFill>
                  <a:srgbClr val="1E1E1E"/>
                </a:solidFill>
              </a:defRPr>
            </a:pPr>
            <a:r>
              <a:t>2. Justificación y Relevancia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2200">
                <a:solidFill>
                  <a:srgbClr val="1E1E1E"/>
                </a:solidFill>
              </a:defRPr>
            </a:pPr>
            <a:r>
              <a:t>3. Objetivos de la Investigación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2200">
                <a:solidFill>
                  <a:srgbClr val="1E1E1E"/>
                </a:solidFill>
              </a:defRPr>
            </a:pPr>
            <a:r>
              <a:t>4. Marco Teórico: DLBP y Metaheurísticas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2200">
                <a:solidFill>
                  <a:srgbClr val="1E1E1E"/>
                </a:solidFill>
              </a:defRPr>
            </a:pPr>
            <a:r>
              <a:t>5. Metodología Propuesta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2200">
                <a:solidFill>
                  <a:srgbClr val="1E1E1E"/>
                </a:solidFill>
              </a:defRPr>
            </a:pPr>
            <a:r>
              <a:t>6. Cronograma y Recursos</a:t>
            </a:r>
          </a:p>
          <a:p>
            <a:pPr>
              <a:spcBef>
                <a:spcPts val="0"/>
              </a:spcBef>
              <a:spcAft>
                <a:spcPts val="1400"/>
              </a:spcAft>
              <a:defRPr sz="2200">
                <a:solidFill>
                  <a:srgbClr val="1E1E1E"/>
                </a:solidFill>
              </a:defRPr>
            </a:pPr>
            <a:r>
              <a:t>7. Resultados Esperados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3366"/>
                </a:solidFill>
              </a:defRPr>
            </a:pPr>
            <a:r>
              <a:t>Contexto: Industria Avícola Colombiana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73152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E1E1E"/>
                </a:solidFill>
              </a:defRPr>
            </a:pPr>
            <a:r>
              <a:t>✓ Importancia económica estratégica</a:t>
            </a:r>
          </a:p>
          <a:p>
            <a:pPr>
              <a:spcAft>
                <a:spcPts val="800"/>
              </a:spcAft>
              <a:defRPr sz="2200">
                <a:solidFill>
                  <a:srgbClr val="1E1E1E"/>
                </a:solidFill>
              </a:defRPr>
            </a:pPr>
            <a:r>
              <a:t>✓ Producción de múltiples coproductos por carcasa</a:t>
            </a:r>
          </a:p>
          <a:p>
            <a:pPr>
              <a:spcAft>
                <a:spcPts val="800"/>
              </a:spcAft>
              <a:defRPr>
                <a:solidFill>
                  <a:srgbClr val="1E1E1E"/>
                </a:solidFill>
              </a:defRPr>
            </a:pPr>
          </a:p>
          <a:p>
            <a:pPr>
              <a:spcAft>
                <a:spcPts val="800"/>
              </a:spcAft>
              <a:defRPr b="1" sz="2400">
                <a:solidFill>
                  <a:srgbClr val="B22222"/>
                </a:solidFill>
              </a:defRPr>
            </a:pPr>
            <a:r>
              <a:t>⚠️ Problema Central: Desbalance de Carcasa</a:t>
            </a:r>
          </a:p>
          <a:p>
            <a:pPr>
              <a:spcAft>
                <a:spcPts val="800"/>
              </a:spcAft>
              <a:defRPr>
                <a:solidFill>
                  <a:srgbClr val="1E1E1E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 • Oferta fija vs. Demanda variable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 • Ineficiencias operativas y sobrecostos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 • Excedentes de productos de bajo valor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   • Faltantes de productos premium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3366"/>
                </a:solidFill>
              </a:defRPr>
            </a:pPr>
            <a:r>
              <a:t>Planteamiento del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7724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Desbalance Estructural</a:t>
            </a:r>
          </a:p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</a:defRPr>
            </a:pPr>
            <a:r>
              <a:t>• Cada ave → Proporciones fijas de cortes</a:t>
            </a:r>
          </a:p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</a:defRPr>
            </a:pPr>
            <a:r>
              <a:t>• Mercado → Demanda heterogénea y estocástica</a:t>
            </a:r>
          </a:p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</a:defRPr>
            </a:pPr>
          </a:p>
          <a:p>
            <a:pPr>
              <a:spcAft>
                <a:spcPts val="600"/>
              </a:spcAft>
              <a:defRPr sz="2400" b="1">
                <a:solidFill>
                  <a:srgbClr val="003366"/>
                </a:solidFill>
              </a:defRPr>
            </a:pPr>
            <a:r>
              <a:t>Consecuencias Económicas</a:t>
            </a:r>
          </a:p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</a:defRPr>
            </a:pPr>
            <a:r>
              <a:t>• Sobrecostos operativos documentados</a:t>
            </a:r>
          </a:p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</a:defRPr>
            </a:pPr>
            <a:r>
              <a:t>• Violación de restricciones de bioseguridad</a:t>
            </a:r>
          </a:p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</a:defRPr>
            </a:pPr>
            <a:r>
              <a:t>• Costos de inventario y almacenamiento</a:t>
            </a:r>
          </a:p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</a:defRPr>
            </a:pPr>
            <a:r>
              <a:t>• Ventas a precios de liquidación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003366"/>
                </a:solidFill>
              </a:defRPr>
            </a:pPr>
            <a:r>
              <a:t>Pregunta de Investigación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2800" b="1">
                <a:solidFill>
                  <a:srgbClr val="191970"/>
                </a:solidFill>
              </a:defRPr>
            </a:pPr>
            <a:r>
              <a:t>¿Cómo puede un modelo DLBP resuelto con metaheurísticas mejorar la rentabilidad y eficiencia operativa al minimizar el desbalance entre oferta y demanda de coproductos avícolas?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Justificación: Beneficios Documentados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6400"/>
                </a:solidFill>
              </a:defRPr>
            </a:pPr>
            <a:r>
              <a:t>Beneficios Económicos</a:t>
            </a:r>
          </a:p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</a:defRPr>
            </a:pPr>
            <a:r>
              <a:t>• Optimización de la rentabilidad global</a:t>
            </a:r>
          </a:p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</a:defRPr>
            </a:pPr>
            <a:r>
              <a:t>• Reducción de costos operativos</a:t>
            </a:r>
          </a:p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</a:defRPr>
            </a:pPr>
          </a:p>
          <a:p>
            <a:pPr>
              <a:spcAft>
                <a:spcPts val="600"/>
              </a:spcAft>
              <a:defRPr sz="2400" b="1">
                <a:solidFill>
                  <a:srgbClr val="006400"/>
                </a:solidFill>
              </a:defRPr>
            </a:pPr>
            <a:r>
              <a:t>Caso Santa Marta (Solano-Blanco, 2022)</a:t>
            </a:r>
          </a:p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</a:defRPr>
            </a:pPr>
            <a:r>
              <a:t>• Reducción 8.6% en costos totales</a:t>
            </a:r>
          </a:p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</a:defRPr>
            </a:pPr>
            <a:r>
              <a:t>• Cumplimiento de restricciones biológicas</a:t>
            </a:r>
          </a:p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</a:defRPr>
            </a:pPr>
          </a:p>
          <a:p>
            <a:pPr>
              <a:spcAft>
                <a:spcPts val="600"/>
              </a:spcAft>
              <a:defRPr sz="2400" b="1">
                <a:solidFill>
                  <a:srgbClr val="006400"/>
                </a:solidFill>
              </a:defRPr>
            </a:pPr>
            <a:r>
              <a:t>Beneficios de Sostenibilidad</a:t>
            </a:r>
          </a:p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</a:defRPr>
            </a:pPr>
            <a:r>
              <a:t>• Alineación con ODS 12 y 9</a:t>
            </a:r>
          </a:p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</a:defRPr>
            </a:pPr>
            <a:r>
              <a:t>• Reducción de desperdicios (Marel)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Objetivos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Objetivo General</a:t>
            </a:r>
          </a:p>
          <a:p>
            <a:pPr>
              <a:spcAft>
                <a:spcPts val="800"/>
              </a:spcAft>
              <a:defRPr sz="1900">
                <a:solidFill>
                  <a:srgbClr val="1E1E1E"/>
                </a:solidFill>
              </a:defRPr>
            </a:pPr>
            <a:r>
              <a:t>Desarrollar y validar un modelo DLBP con metaheurísticas para maximizar rentabilidad en la gestión de coproductos avícolas</a:t>
            </a:r>
          </a:p>
          <a:p>
            <a:pPr>
              <a:spcAft>
                <a:spcPts val="800"/>
              </a:spcAft>
              <a:defRPr sz="1900">
                <a:solidFill>
                  <a:srgbClr val="1E1E1E"/>
                </a:solidFill>
              </a:defRPr>
            </a:pPr>
          </a:p>
          <a:p>
            <a:pPr>
              <a:spcAft>
                <a:spcPts val="800"/>
              </a:spcAft>
              <a:defRPr sz="2400" b="1">
                <a:solidFill>
                  <a:srgbClr val="003366"/>
                </a:solidFill>
              </a:defRPr>
            </a:pPr>
            <a:r>
              <a:t>Objetivos Específicos</a:t>
            </a:r>
          </a:p>
          <a:p>
            <a:pPr>
              <a:spcAft>
                <a:spcPts val="800"/>
              </a:spcAft>
              <a:defRPr sz="1900">
                <a:solidFill>
                  <a:srgbClr val="1E1E1E"/>
                </a:solidFill>
              </a:defRPr>
            </a:pPr>
            <a:r>
              <a:t>1. Formular modelo matemático DLBP</a:t>
            </a:r>
          </a:p>
          <a:p>
            <a:pPr>
              <a:spcAft>
                <a:spcPts val="800"/>
              </a:spcAft>
              <a:defRPr sz="1900">
                <a:solidFill>
                  <a:srgbClr val="1E1E1E"/>
                </a:solidFill>
              </a:defRPr>
            </a:pPr>
            <a:r>
              <a:t>2. Implementar algoritmos (GA, TS, Híbrido)</a:t>
            </a:r>
          </a:p>
          <a:p>
            <a:pPr>
              <a:spcAft>
                <a:spcPts val="800"/>
              </a:spcAft>
              <a:defRPr sz="1900">
                <a:solidFill>
                  <a:srgbClr val="1E1E1E"/>
                </a:solidFill>
              </a:defRPr>
            </a:pPr>
            <a:r>
              <a:t>3. Generar dataset sintético calibrado</a:t>
            </a:r>
          </a:p>
          <a:p>
            <a:pPr>
              <a:spcAft>
                <a:spcPts val="800"/>
              </a:spcAft>
              <a:defRPr sz="1900">
                <a:solidFill>
                  <a:srgbClr val="1E1E1E"/>
                </a:solidFill>
              </a:defRPr>
            </a:pPr>
            <a:r>
              <a:t>4. Evaluar desempeño y cuantificar impacto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Marco Teórico: DLBP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4682B4"/>
                </a:solidFill>
              </a:defRPr>
            </a:pPr>
            <a:r>
              <a:t>Disassembly Line Balancing Problem</a:t>
            </a:r>
          </a:p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</a:defRPr>
            </a:pPr>
            <a:r>
              <a:t>• Proceso inverso al ensamblaje (uno → muchos)</a:t>
            </a:r>
          </a:p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</a:defRPr>
            </a:pPr>
            <a:r>
              <a:t>• Optimización de líneas de desensamble</a:t>
            </a:r>
          </a:p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</a:defRPr>
            </a:pPr>
            <a:r>
              <a:t>• Complejidad: NP-hard</a:t>
            </a:r>
          </a:p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</a:defRPr>
            </a:pPr>
          </a:p>
          <a:p>
            <a:pPr>
              <a:spcAft>
                <a:spcPts val="600"/>
              </a:spcAft>
              <a:defRPr sz="2300" b="1">
                <a:solidFill>
                  <a:srgbClr val="4682B4"/>
                </a:solidFill>
              </a:defRPr>
            </a:pPr>
            <a:r>
              <a:t>Aplicación Avícola</a:t>
            </a:r>
          </a:p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</a:defRPr>
            </a:pPr>
            <a:r>
              <a:t>• Carcasa completa → Múltiples coproductos</a:t>
            </a:r>
          </a:p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</a:defRPr>
            </a:pPr>
            <a:r>
              <a:t>• Restricciones de precedencia en despiece</a:t>
            </a:r>
          </a:p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</a:defRPr>
            </a:pPr>
            <a:r>
              <a:t>• Balance de proporciones fijas</a:t>
            </a:r>
          </a:p>
          <a:p>
            <a:pPr>
              <a:spcAft>
                <a:spcPts val="600"/>
              </a:spcAft>
              <a:defRPr sz="2000">
                <a:solidFill>
                  <a:srgbClr val="1E1E1E"/>
                </a:solidFill>
              </a:defRPr>
            </a:pPr>
            <a:r>
              <a:t>• Demanda estocástica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Técnicas Metaheurísticas Propuestas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4682B4"/>
                </a:solidFill>
              </a:defRPr>
            </a:pPr>
            <a:r>
              <a:t>Algoritmos Genéticos (GA)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• Exploración global del espacio de soluciones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• Operadores: selección, cruce, mutación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</a:p>
          <a:p>
            <a:pPr>
              <a:spcAft>
                <a:spcPts val="600"/>
              </a:spcAft>
              <a:defRPr sz="2300" b="1">
                <a:solidFill>
                  <a:srgbClr val="4682B4"/>
                </a:solidFill>
              </a:defRPr>
            </a:pPr>
            <a:r>
              <a:t>Búsqueda Tabú (TS)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• Búsqueda local con memoria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• Escape de óptimos locales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</a:p>
          <a:p>
            <a:pPr>
              <a:spcAft>
                <a:spcPts val="600"/>
              </a:spcAft>
              <a:defRPr sz="2300" b="1">
                <a:solidFill>
                  <a:srgbClr val="4682B4"/>
                </a:solidFill>
              </a:defRPr>
            </a:pPr>
            <a:r>
              <a:t>Algoritmo Híbrido (GA-TS)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• Combina exploración (GA) + explotación (TS)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• Balance diversificación e intensificación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Metodología: 5 Fases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3366"/>
                </a:solidFill>
              </a:defRPr>
            </a:pPr>
            <a:r>
              <a:t>Fase 1: Formulación del Modelo (Sem 1-8)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   → Revisión literatura + Formulación matemática</a:t>
            </a:r>
          </a:p>
          <a:p>
            <a:pPr>
              <a:defRPr sz="2100" b="1">
                <a:solidFill>
                  <a:srgbClr val="003366"/>
                </a:solidFill>
              </a:defRPr>
            </a:pPr>
            <a:r>
              <a:t>Fase 2: Implementación (Sem 9-16)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   → Codificación GA, TS y Híbrido en Python</a:t>
            </a:r>
          </a:p>
          <a:p>
            <a:pPr>
              <a:defRPr sz="2100" b="1">
                <a:solidFill>
                  <a:srgbClr val="003366"/>
                </a:solidFill>
              </a:defRPr>
            </a:pPr>
            <a:r>
              <a:t>Fase 3: Generación de Datos (Sem 17-20)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   → Dataset sintético calibrado</a:t>
            </a:r>
          </a:p>
          <a:p>
            <a:pPr>
              <a:defRPr sz="2100" b="1">
                <a:solidFill>
                  <a:srgbClr val="003366"/>
                </a:solidFill>
              </a:defRPr>
            </a:pPr>
            <a:r>
              <a:t>Fase 4: Experimentación (Sem 21-24)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   → Pruebas + Análisis estadístico</a:t>
            </a:r>
          </a:p>
          <a:p>
            <a:pPr>
              <a:defRPr sz="2100" b="1">
                <a:solidFill>
                  <a:srgbClr val="003366"/>
                </a:solidFill>
              </a:defRPr>
            </a:pPr>
            <a:r>
              <a:t>Fase 5: Validación (Sem 25-26)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   → Validación y documentación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Cronograma (26 semanas)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📅 Distribución de Fases:</a:t>
            </a:r>
          </a:p>
          <a:p>
            <a:pPr>
              <a:spcAft>
                <a:spcPts val="1200"/>
              </a:spcAft>
              <a:defRPr sz="2200">
                <a:solidFill>
                  <a:srgbClr val="1E1E1E"/>
                </a:solidFill>
              </a:defRPr>
            </a:pPr>
          </a:p>
          <a:p>
            <a:pPr>
              <a:spcAft>
                <a:spcPts val="1200"/>
              </a:spcAft>
              <a:defRPr sz="2200">
                <a:solidFill>
                  <a:srgbClr val="1E1E1E"/>
                </a:solidFill>
              </a:defRPr>
            </a:pPr>
            <a:r>
              <a:t>• Formulación: 8 semanas</a:t>
            </a:r>
          </a:p>
          <a:p>
            <a:pPr>
              <a:spcAft>
                <a:spcPts val="1200"/>
              </a:spcAft>
              <a:defRPr sz="2200">
                <a:solidFill>
                  <a:srgbClr val="1E1E1E"/>
                </a:solidFill>
              </a:defRPr>
            </a:pPr>
            <a:r>
              <a:t>• Implementación: 8 semanas</a:t>
            </a:r>
          </a:p>
          <a:p>
            <a:pPr>
              <a:spcAft>
                <a:spcPts val="1200"/>
              </a:spcAft>
              <a:defRPr sz="2200">
                <a:solidFill>
                  <a:srgbClr val="1E1E1E"/>
                </a:solidFill>
              </a:defRPr>
            </a:pPr>
            <a:r>
              <a:t>• Datos: 4 semanas</a:t>
            </a:r>
          </a:p>
          <a:p>
            <a:pPr>
              <a:spcAft>
                <a:spcPts val="1200"/>
              </a:spcAft>
              <a:defRPr sz="2200">
                <a:solidFill>
                  <a:srgbClr val="1E1E1E"/>
                </a:solidFill>
              </a:defRPr>
            </a:pPr>
            <a:r>
              <a:t>• Experimentación: 4 semanas</a:t>
            </a:r>
          </a:p>
          <a:p>
            <a:pPr>
              <a:spcAft>
                <a:spcPts val="1200"/>
              </a:spcAft>
              <a:defRPr sz="2200">
                <a:solidFill>
                  <a:srgbClr val="1E1E1E"/>
                </a:solidFill>
              </a:defRPr>
            </a:pPr>
            <a:r>
              <a:t>• Validación: 2 semanas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Resultados Esperados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6400"/>
                </a:solidFill>
              </a:defRPr>
            </a:pPr>
            <a:r>
              <a:t>Productos Académicos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• Modelo matemático DLBP validado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• Artículo científico en revista indexada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• Dataset público para la comunidad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</a:p>
          <a:p>
            <a:pPr>
              <a:spcAft>
                <a:spcPts val="600"/>
              </a:spcAft>
              <a:defRPr sz="2400" b="1">
                <a:solidFill>
                  <a:srgbClr val="006400"/>
                </a:solidFill>
              </a:defRPr>
            </a:pPr>
            <a:r>
              <a:t>Productos Tecnológicos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• Prototipo de software de planificación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• Código abierto en GitHub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</a:p>
          <a:p>
            <a:pPr>
              <a:spcAft>
                <a:spcPts val="600"/>
              </a:spcAft>
              <a:defRPr sz="2400" b="1">
                <a:solidFill>
                  <a:srgbClr val="006400"/>
                </a:solidFill>
              </a:defRPr>
            </a:pPr>
            <a:r>
              <a:t>Impacto Esperado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• Reducción de costos (Ref: ~8.6%)</a:t>
            </a:r>
          </a:p>
          <a:p>
            <a:pPr>
              <a:spcAft>
                <a:spcPts val="600"/>
              </a:spcAft>
              <a:defRPr sz="1900">
                <a:solidFill>
                  <a:srgbClr val="1E1E1E"/>
                </a:solidFill>
              </a:defRPr>
            </a:pPr>
            <a:r>
              <a:t>• Mejora en competitividad del sector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3366"/>
                </a:solidFill>
              </a:defRPr>
            </a:pPr>
            <a:r>
              <a:t>Contribuciones Esperadas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682B4"/>
                </a:solidFill>
              </a:defRPr>
            </a:pPr>
            <a:r>
              <a:t>A la Ciencia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• Adaptación de modelos DLBP a coproductos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• Comparación rigurosa de metaheurísticas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</a:p>
          <a:p>
            <a:pPr>
              <a:spcAft>
                <a:spcPts val="800"/>
              </a:spcAft>
              <a:defRPr sz="2400" b="1">
                <a:solidFill>
                  <a:srgbClr val="4682B4"/>
                </a:solidFill>
              </a:defRPr>
            </a:pPr>
            <a:r>
              <a:t>A la Industria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• Herramienta práctica de planificación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• Reducción cuantificable de costos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</a:p>
          <a:p>
            <a:pPr>
              <a:spcAft>
                <a:spcPts val="800"/>
              </a:spcAft>
              <a:defRPr sz="2400" b="1">
                <a:solidFill>
                  <a:srgbClr val="4682B4"/>
                </a:solidFill>
              </a:defRPr>
            </a:pPr>
            <a:r>
              <a:t>A la Formación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• Competencias en optimización avanzada</a:t>
            </a:r>
          </a:p>
          <a:p>
            <a:pPr>
              <a:spcAft>
                <a:spcPts val="800"/>
              </a:spcAft>
              <a:defRPr sz="2000">
                <a:solidFill>
                  <a:srgbClr val="1E1E1E"/>
                </a:solidFill>
              </a:defRPr>
            </a:pPr>
            <a:r>
              <a:t>• Vínculos academia-industria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03366"/>
                </a:solidFill>
              </a:defRPr>
            </a:pPr>
            <a:r>
              <a:t>Referencias Clave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E1E1E"/>
                </a:solidFill>
              </a:defRPr>
            </a:pPr>
            <a:r>
              <a:t>Becker, C., &amp; Scholl, A. (1998). Survey on problems and methods in generalized assembly line balancing.</a:t>
            </a:r>
          </a:p>
          <a:p>
            <a:pPr>
              <a:spcAft>
                <a:spcPts val="4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E1E1E"/>
                </a:solidFill>
              </a:defRPr>
            </a:pPr>
            <a:r>
              <a:t>Solano-Blanco, A. L., et al. (2022). Integrated planning decisions in the broiler chicken supply chain.</a:t>
            </a:r>
          </a:p>
          <a:p>
            <a:pPr>
              <a:spcAft>
                <a:spcPts val="4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E1E1E"/>
                </a:solidFill>
              </a:defRPr>
            </a:pPr>
            <a:r>
              <a:t>Marel. (s.f.). El equilibrio de la carcasa: un reto clave para la industria avícola.</a:t>
            </a:r>
          </a:p>
          <a:p>
            <a:pPr>
              <a:spcAft>
                <a:spcPts val="4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E1E1E"/>
                </a:solidFill>
              </a:defRPr>
            </a:pPr>
            <a:r>
              <a:t>Güngör, A., &amp; Gupta, S. M. (2021). Disassembly scheduling: Literature review.</a:t>
            </a:r>
          </a:p>
          <a:p>
            <a:pPr>
              <a:spcAft>
                <a:spcPts val="4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i="1" sz="1800">
                <a:solidFill>
                  <a:srgbClr val="1E1E1E"/>
                </a:solidFill>
              </a:defRPr>
            </a:pPr>
            <a:r>
              <a:t>[Bibliografía completa en protocolo de investigación]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600" b="1">
                <a:solidFill>
                  <a:srgbClr val="003366"/>
                </a:solidFill>
              </a:defRPr>
            </a:pPr>
            <a:r>
              <a:t>¡Gracias por su atención!</a:t>
            </a:r>
          </a:p>
          <a:p/>
          <a:p>
            <a:pPr algn="ctr">
              <a:defRPr sz="3600">
                <a:solidFill>
                  <a:srgbClr val="4682B4"/>
                </a:solidFill>
              </a:defRPr>
            </a:pPr>
            <a:r>
              <a:t>¿Preguntas?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303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404040"/>
                </a:solidFill>
              </a:defRPr>
            </a:pPr>
            <a:r>
              <a:t>Daniel Castañeda</a:t>
            </a:r>
          </a:p>
          <a:p>
            <a:pPr algn="ctr">
              <a:defRPr sz="1800">
                <a:solidFill>
                  <a:srgbClr val="404040"/>
                </a:solidFill>
              </a:defRPr>
            </a:pPr>
            <a:r>
              <a:t>Universidad Tecnológica de Pereira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